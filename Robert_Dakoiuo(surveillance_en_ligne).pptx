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73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219456" y="1209226"/>
            <a:ext cx="21945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192024" y="119093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PRÉSENTATION PROJET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16152" y="1556698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AE9FF"/>
                </a:solidFill>
                <a:latin typeface="Garamond" panose="02020404030301010803" pitchFamily="18" charset="0"/>
              </a:rPr>
              <a:t>Système de</a:t>
            </a:r>
            <a:endParaRPr lang="en-US" sz="400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Garamond" panose="02020404030301010803" pitchFamily="18" charset="0"/>
              </a:rPr>
              <a:t>Surveillance</a:t>
            </a:r>
            <a:endParaRPr lang="en-US" sz="400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anose="02020404030301010803" pitchFamily="18" charset="0"/>
              </a:rPr>
              <a:t>en Ligne</a:t>
            </a:r>
            <a:endParaRPr lang="en-US" sz="400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88575" y="3569577"/>
            <a:ext cx="4462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Authentification 2FA · Monitoring facial · Analyse d'attention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3469796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1645920" cy="1645920"/>
          </a:xfrm>
          <a:prstGeom prst="rect">
            <a:avLst/>
          </a:prstGeom>
        </p:spPr>
      </p:pic>
      <p:pic>
        <p:nvPicPr>
          <p:cNvPr id="12" name="Image 11" descr="Une image contenant texte, capture d’écran, graphisme, Graphique&#10;&#10;Le contenu généré par l’IA peut être incorrect.">
            <a:extLst>
              <a:ext uri="{FF2B5EF4-FFF2-40B4-BE49-F238E27FC236}">
                <a16:creationId xmlns:a16="http://schemas.microsoft.com/office/drawing/2014/main" id="{C937CC8B-A1B9-012B-4358-896E5C00F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68" y="-39447"/>
            <a:ext cx="1619036" cy="127832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CFA64C26-F1EE-E1D5-ADA3-60056313BC9A}"/>
              </a:ext>
            </a:extLst>
          </p:cNvPr>
          <p:cNvSpPr/>
          <p:nvPr/>
        </p:nvSpPr>
        <p:spPr>
          <a:xfrm>
            <a:off x="380297" y="4637423"/>
            <a:ext cx="4462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94A3B8"/>
                </a:solidFill>
              </a:rPr>
              <a:t>Presente par:</a:t>
            </a:r>
          </a:p>
          <a:p>
            <a:pPr marL="0" indent="0">
              <a:buNone/>
            </a:pPr>
            <a:r>
              <a:rPr lang="en-US" sz="1300" b="1" i="1" dirty="0">
                <a:solidFill>
                  <a:srgbClr val="94A3B8"/>
                </a:solidFill>
              </a:rPr>
              <a:t>Robert 	DAKOUO </a:t>
            </a:r>
            <a:endParaRPr lang="en-US" sz="1300" b="1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E4007751-F5B0-87C2-0749-3C79F7F10149}"/>
              </a:ext>
            </a:extLst>
          </p:cNvPr>
          <p:cNvSpPr/>
          <p:nvPr/>
        </p:nvSpPr>
        <p:spPr>
          <a:xfrm>
            <a:off x="7370063" y="4637423"/>
            <a:ext cx="2127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4A3B8"/>
                </a:solidFill>
                <a:latin typeface="Garamond" panose="02020404030301010803" pitchFamily="18" charset="0"/>
              </a:rPr>
              <a:t>Professeur: M. DER </a:t>
            </a:r>
            <a:endParaRPr lang="en-US" sz="1400" b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 de la présentation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886200"/>
          </a:xfrm>
          <a:prstGeom prst="rect">
            <a:avLst/>
          </a:prstGeom>
          <a:solidFill>
            <a:srgbClr val="1B2B3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Amasis MT Pro Black" panose="02040A04050005020304" pitchFamily="18" charset="0"/>
              </a:rPr>
              <a:t>01</a:t>
            </a:r>
            <a:endParaRPr lang="en-US" sz="2000" dirty="0">
              <a:latin typeface="Amasis MT Pro Black" panose="02040A040500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10515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Amasis MT Pro Black" panose="02040A04050005020304" pitchFamily="18" charset="0"/>
              </a:rPr>
              <a:t>Introduction</a:t>
            </a:r>
            <a:endParaRPr lang="en-US" sz="1100" dirty="0">
              <a:latin typeface="Amasis MT Pro Black" panose="02040A040500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566928" y="1737360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1.1  Qu'est-ce que la surveillance en ligne ?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566928" y="2395728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1.2  Objectifs du projet &amp; 3 modèles d'IA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91840" y="1051560"/>
            <a:ext cx="2743200" cy="3886200"/>
          </a:xfrm>
          <a:prstGeom prst="rect">
            <a:avLst/>
          </a:prstGeom>
          <a:solidFill>
            <a:srgbClr val="1B2B3C"/>
          </a:solidFill>
          <a:ln w="190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743200" cy="50292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3291840" y="10515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58768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Amasis MT Pro Black" panose="02040A04050005020304" pitchFamily="18" charset="0"/>
              </a:rPr>
              <a:t>Architecture</a:t>
            </a:r>
            <a:r>
              <a:rPr lang="en-US" sz="1400" b="1" dirty="0">
                <a:solidFill>
                  <a:srgbClr val="0D1B2A"/>
                </a:solidFill>
                <a:latin typeface="Amasis MT Pro Black" panose="02040A04050005020304" pitchFamily="18" charset="0"/>
              </a:rPr>
              <a:t> &amp; </a:t>
            </a:r>
            <a:r>
              <a:rPr lang="en-US" sz="1600" b="1" dirty="0">
                <a:solidFill>
                  <a:srgbClr val="0D1B2A"/>
                </a:solidFill>
                <a:latin typeface="Amasis MT Pro Black" panose="02040A04050005020304" pitchFamily="18" charset="0"/>
              </a:rPr>
              <a:t>Démonstration</a:t>
            </a:r>
            <a:endParaRPr lang="en-US" sz="1400" dirty="0">
              <a:latin typeface="Amasis MT Pro Black" panose="02040A040500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29000" y="1737360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Shape 18"/>
          <p:cNvSpPr/>
          <p:nvPr/>
        </p:nvSpPr>
        <p:spPr>
          <a:xfrm>
            <a:off x="3429000" y="1737360"/>
            <a:ext cx="54864" cy="53035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3538728" y="1737360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2.1  Matériels &amp; Stack technique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29000" y="2395728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Shape 21"/>
          <p:cNvSpPr/>
          <p:nvPr/>
        </p:nvSpPr>
        <p:spPr>
          <a:xfrm>
            <a:off x="3429000" y="2395728"/>
            <a:ext cx="54864" cy="53035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2"/>
          <p:cNvSpPr/>
          <p:nvPr/>
        </p:nvSpPr>
        <p:spPr>
          <a:xfrm>
            <a:off x="3538728" y="2395728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2.2  Architecture simplifiée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429000" y="3054096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Shape 24"/>
          <p:cNvSpPr/>
          <p:nvPr/>
        </p:nvSpPr>
        <p:spPr>
          <a:xfrm>
            <a:off x="3429000" y="3054096"/>
            <a:ext cx="54864" cy="53035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/>
          <p:nvPr/>
        </p:nvSpPr>
        <p:spPr>
          <a:xfrm>
            <a:off x="3538728" y="3054096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2.3  Comportement attendu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29000" y="3712464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Shape 27"/>
          <p:cNvSpPr/>
          <p:nvPr/>
        </p:nvSpPr>
        <p:spPr>
          <a:xfrm>
            <a:off x="3429000" y="3712464"/>
            <a:ext cx="54864" cy="53035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8"/>
          <p:cNvSpPr/>
          <p:nvPr/>
        </p:nvSpPr>
        <p:spPr>
          <a:xfrm>
            <a:off x="3538728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2.4  Démonstration en direct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63640" y="1051560"/>
            <a:ext cx="2743200" cy="3886200"/>
          </a:xfrm>
          <a:prstGeom prst="rect">
            <a:avLst/>
          </a:prstGeom>
          <a:solidFill>
            <a:srgbClr val="1B2B3C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Shape 30"/>
          <p:cNvSpPr/>
          <p:nvPr/>
        </p:nvSpPr>
        <p:spPr>
          <a:xfrm>
            <a:off x="6263640" y="1051560"/>
            <a:ext cx="2743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3" name="Text 31"/>
          <p:cNvSpPr/>
          <p:nvPr/>
        </p:nvSpPr>
        <p:spPr>
          <a:xfrm>
            <a:off x="6263640" y="10515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30568" y="10515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Amasis MT Pro Black" panose="02040A04050005020304" pitchFamily="18" charset="0"/>
              </a:rPr>
              <a:t>Bilan &amp; Conclusion</a:t>
            </a:r>
            <a:endParaRPr 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0" y="1737360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36" name="Shape 34"/>
          <p:cNvSpPr/>
          <p:nvPr/>
        </p:nvSpPr>
        <p:spPr>
          <a:xfrm>
            <a:off x="6400800" y="1737360"/>
            <a:ext cx="54864" cy="5303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Text 35"/>
          <p:cNvSpPr/>
          <p:nvPr/>
        </p:nvSpPr>
        <p:spPr>
          <a:xfrm>
            <a:off x="6510528" y="1737360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3.1  Avantages &amp; Inconvénients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0" y="2395728"/>
            <a:ext cx="2468880" cy="530352"/>
          </a:xfrm>
          <a:prstGeom prst="rect">
            <a:avLst/>
          </a:prstGeom>
          <a:solidFill>
            <a:srgbClr val="243447"/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Shape 37"/>
          <p:cNvSpPr/>
          <p:nvPr/>
        </p:nvSpPr>
        <p:spPr>
          <a:xfrm>
            <a:off x="6400800" y="2395728"/>
            <a:ext cx="54864" cy="5303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0" name="Text 38"/>
          <p:cNvSpPr/>
          <p:nvPr/>
        </p:nvSpPr>
        <p:spPr>
          <a:xfrm>
            <a:off x="6510528" y="2395728"/>
            <a:ext cx="2331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3.2  Conclusion &amp; Perspectives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2" name="Text 40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2 / 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2" grpId="0" animBg="1"/>
      <p:bldP spid="15" grpId="0" animBg="1"/>
      <p:bldP spid="16" grpId="0" animBg="1"/>
      <p:bldP spid="19" grpId="0" animBg="1"/>
      <p:bldP spid="22" grpId="0" animBg="1"/>
      <p:bldP spid="25" grpId="0" animBg="1"/>
      <p:bldP spid="28" grpId="0" animBg="1"/>
      <p:bldP spid="31" grpId="0" animBg="1"/>
      <p:bldP spid="32" grpId="0" animBg="1"/>
      <p:bldP spid="35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7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94A3B8"/>
                </a:solidFill>
              </a:rPr>
              <a:t>SECTION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ooper Black" panose="0208090404030B020404" pitchFamily="18" charset="0"/>
              </a:rPr>
              <a:t>Introduction</a:t>
            </a:r>
            <a:endParaRPr lang="en-US" sz="6000" dirty="0">
              <a:latin typeface="Cooper Black" panose="0208090404030B0204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E9FF"/>
                </a:solidFill>
              </a:rPr>
              <a:t>Contexte &amp; Objectifs du projet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1515794" y="274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ooper Black" panose="0208090404030B020404" pitchFamily="18" charset="0"/>
              </a:rPr>
              <a:t>1.1</a:t>
            </a:r>
            <a:endParaRPr lang="en-US" sz="1600" dirty="0">
              <a:latin typeface="Cooper Black" panose="0208090404030B0204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oper Black" panose="0208090404030B020404" pitchFamily="18" charset="0"/>
              </a:rPr>
              <a:t>Qu'est-ce que la surveillance en ligne ?</a:t>
            </a:r>
            <a:endParaRPr lang="en-US" sz="2000" dirty="0">
              <a:latin typeface="Cooper Black" panose="0208090404030B0204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0332" y="1124712"/>
            <a:ext cx="8503920" cy="822960"/>
          </a:xfrm>
          <a:prstGeom prst="rect">
            <a:avLst/>
          </a:prstGeom>
          <a:solidFill>
            <a:srgbClr val="2434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CAE9FF"/>
                </a:solidFill>
                <a:latin typeface="Garamond" panose="02020404030301010803" pitchFamily="18" charset="0"/>
              </a:rPr>
              <a:t>Ensemble de techniques permettant de vérifier l'identité et de mesurer</a:t>
            </a:r>
            <a:endParaRPr lang="en-US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US" i="1" dirty="0">
                <a:solidFill>
                  <a:srgbClr val="CAE9FF"/>
                </a:solidFill>
                <a:latin typeface="Garamond" panose="02020404030301010803" pitchFamily="18" charset="0"/>
              </a:rPr>
              <a:t>l'engagement d'un apprenant lors d'une session d'examen ou de cours en ligne.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2743200" cy="2834640"/>
          </a:xfrm>
          <a:prstGeom prst="rect">
            <a:avLst/>
          </a:prstGeom>
          <a:solidFill>
            <a:srgbClr val="1B2B3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488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Amasis MT Pro Black" panose="02040A04050005020304" pitchFamily="18" charset="0"/>
              </a:rPr>
              <a:t>Contexte</a:t>
            </a:r>
            <a:endParaRPr lang="en-US" sz="1300" dirty="0">
              <a:latin typeface="Amasis MT Pro Black" panose="02040A040500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Essor du e-learning</a:t>
            </a:r>
            <a:endParaRPr lang="en-US" sz="1400" dirty="0">
              <a:latin typeface="Garamond" panose="02020404030301010803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COVID-19 : boom des examens à distance</a:t>
            </a:r>
            <a:endParaRPr lang="en-US" sz="1400" dirty="0">
              <a:latin typeface="Garamond" panose="02020404030301010803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Nécessité de garantir l'équité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315468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73552" y="2057400"/>
            <a:ext cx="2743200" cy="2834640"/>
          </a:xfrm>
          <a:prstGeom prst="rect">
            <a:avLst/>
          </a:prstGeom>
          <a:solidFill>
            <a:srgbClr val="1B2B3C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1488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64992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5D4"/>
                </a:solidFill>
                <a:latin typeface="Amasis MT Pro Black" panose="02040A04050005020304" pitchFamily="18" charset="0"/>
              </a:rPr>
              <a:t>Enjeux</a:t>
            </a:r>
            <a:endParaRPr lang="en-US" sz="1300" dirty="0">
              <a:latin typeface="Amasis MT Pro Black" panose="02040A040500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410712" y="315468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Lutter contre la fraude</a:t>
            </a:r>
            <a:endParaRPr lang="en-US" sz="1400" dirty="0">
              <a:latin typeface="Garamond" panose="02020404030301010803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Assurer la présence active</a:t>
            </a:r>
            <a:endParaRPr lang="en-US" sz="1400" dirty="0">
              <a:latin typeface="Garamond" panose="02020404030301010803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Valider l'authenticité de l'étudiant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410712" y="315468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00" dirty="0">
              <a:solidFill>
                <a:srgbClr val="CAE9FF"/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236208" y="2057400"/>
            <a:ext cx="2743200" cy="2834640"/>
          </a:xfrm>
          <a:prstGeom prst="rect">
            <a:avLst/>
          </a:prstGeom>
          <a:solidFill>
            <a:srgbClr val="1B2B3C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21488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Amasis MT Pro Black" panose="02040A04050005020304" pitchFamily="18" charset="0"/>
              </a:rPr>
              <a:t>Approches</a:t>
            </a:r>
            <a:endParaRPr lang="en-US" sz="1300" dirty="0">
              <a:latin typeface="Amasis MT Pro Black" panose="02040A040500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73368" y="315468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Reconnaissance faciale</a:t>
            </a:r>
            <a:endParaRPr lang="en-US" sz="1400" dirty="0">
              <a:latin typeface="Garamond" panose="02020404030301010803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Analyse du regard &amp; posture</a:t>
            </a:r>
            <a:endParaRPr lang="en-US" sz="1400" dirty="0">
              <a:latin typeface="Garamond" panose="02020404030301010803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E9FF"/>
                </a:solidFill>
                <a:latin typeface="Garamond" panose="02020404030301010803" pitchFamily="18" charset="0"/>
              </a:rPr>
              <a:t>Authentification multi-facteurs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373368" y="315468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00" dirty="0">
              <a:latin typeface="Garamond" panose="02020404030301010803" pitchFamily="18" charset="0"/>
            </a:endParaRPr>
          </a:p>
          <a:p>
            <a:pPr>
              <a:buSzPct val="100000"/>
            </a:pPr>
            <a:endParaRPr lang="en-US" sz="1100" dirty="0">
              <a:latin typeface="AngsanaUPC" panose="020B0502040204020203" pitchFamily="18" charset="-34"/>
              <a:cs typeface="AngsanaUPC" panose="020B0502040204020203" pitchFamily="18" charset="-34"/>
            </a:endParaRPr>
          </a:p>
          <a:p>
            <a:pPr>
              <a:buSzPct val="100000"/>
            </a:pPr>
            <a:endParaRPr lang="en-US" sz="1100" dirty="0">
              <a:latin typeface="Amasis MT Pro Light" panose="020F05020202040302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19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4 / 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2268415" y="274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ooper Black" panose="0208090404030B020404" pitchFamily="18" charset="0"/>
              </a:rPr>
              <a:t>1.2</a:t>
            </a:r>
            <a:endParaRPr lang="en-US" sz="1600" dirty="0">
              <a:latin typeface="Cooper Black" panose="0208090404030B0204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17520" y="1828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oper Black" panose="0208090404030B020404" pitchFamily="18" charset="0"/>
              </a:rPr>
              <a:t>Objectifs du projet</a:t>
            </a:r>
            <a:endParaRPr lang="en-US" sz="2000" dirty="0">
              <a:latin typeface="Cooper Black" panose="0208090404030B0204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F5D4"/>
                </a:solidFill>
                <a:latin typeface="Garamond" panose="02020404030301010803" pitchFamily="18" charset="0"/>
              </a:rPr>
              <a:t>Construire une plateforme sécurisée de surveillance basée sur 3 modèles d'IA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503920" cy="987552"/>
          </a:xfrm>
          <a:prstGeom prst="rect">
            <a:avLst/>
          </a:prstGeom>
          <a:solidFill>
            <a:srgbClr val="1B2B3C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640080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01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4708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Authentification 2FA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64208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RetinaFace + ArcFace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03520" y="1691640"/>
            <a:ext cx="32918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Connexion en 2 étapes : mot de passe puis vérification faciale via embeddings cosine similarity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2258568"/>
            <a:ext cx="1143000" cy="256032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2"/>
          <p:cNvSpPr/>
          <p:nvPr/>
        </p:nvSpPr>
        <p:spPr>
          <a:xfrm>
            <a:off x="7498080" y="2258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</a:rPr>
              <a:t>InsightFace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0040" y="2715768"/>
            <a:ext cx="8503920" cy="987552"/>
          </a:xfrm>
          <a:prstGeom prst="rect">
            <a:avLst/>
          </a:prstGeom>
          <a:solidFill>
            <a:srgbClr val="1B2B3C"/>
          </a:solidFill>
          <a:ln w="1524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4"/>
          <p:cNvSpPr/>
          <p:nvPr/>
        </p:nvSpPr>
        <p:spPr>
          <a:xfrm>
            <a:off x="320040" y="2715768"/>
            <a:ext cx="640080" cy="98755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5"/>
          <p:cNvSpPr/>
          <p:nvPr/>
        </p:nvSpPr>
        <p:spPr>
          <a:xfrm>
            <a:off x="320040" y="2715768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02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62656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64208" y="2807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Surveillance d'attention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664208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F5D4"/>
                </a:solidFill>
              </a:rPr>
              <a:t>MediaPipe Face Mesh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03520" y="2807208"/>
            <a:ext cx="32918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Analyse en temps réel de l'EAR (Eye Aspect Ratio), pose de la tête et direction du regard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498080" y="3374136"/>
            <a:ext cx="1143000" cy="256032"/>
          </a:xfrm>
          <a:prstGeom prst="rect">
            <a:avLst/>
          </a:prstGeom>
          <a:solidFill>
            <a:srgbClr val="00F5D4">
              <a:alpha val="25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0"/>
          <p:cNvSpPr/>
          <p:nvPr/>
        </p:nvSpPr>
        <p:spPr>
          <a:xfrm>
            <a:off x="7498080" y="33741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F5D4"/>
                </a:solidFill>
              </a:rPr>
              <a:t>MediaPipe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20040" y="3831336"/>
            <a:ext cx="8503920" cy="987552"/>
          </a:xfrm>
          <a:prstGeom prst="rect">
            <a:avLst/>
          </a:prstGeom>
          <a:solidFill>
            <a:srgbClr val="1B2B3C"/>
          </a:solidFill>
          <a:ln w="1524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Shape 22"/>
          <p:cNvSpPr/>
          <p:nvPr/>
        </p:nvSpPr>
        <p:spPr>
          <a:xfrm>
            <a:off x="320040" y="3831336"/>
            <a:ext cx="640080" cy="9875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3"/>
          <p:cNvSpPr/>
          <p:nvPr/>
        </p:nvSpPr>
        <p:spPr>
          <a:xfrm>
            <a:off x="320040" y="3831336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03</a:t>
            </a:r>
            <a:endParaRPr lang="en-US" sz="2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078224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664208" y="3922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Scoring &amp; Dashboard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1664208" y="4288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A261"/>
                </a:solidFill>
              </a:rPr>
              <a:t>API FastAPI + Next.js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303520" y="3922776"/>
            <a:ext cx="32918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Calcul du score d'attention (focused/distracted/drowsy/eyes_closed) et visualisation des sessions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498080" y="4489704"/>
            <a:ext cx="1143000" cy="256032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3" name="Text 28"/>
          <p:cNvSpPr/>
          <p:nvPr/>
        </p:nvSpPr>
        <p:spPr>
          <a:xfrm>
            <a:off x="7498080" y="44897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61"/>
                </a:solidFill>
              </a:rPr>
              <a:t>FastAPI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0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5 / 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2400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94A3B8"/>
                </a:solidFill>
              </a:rPr>
              <a:t>SECTION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1371600"/>
            <a:ext cx="91440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ooper Black" panose="0208090404030B020404" pitchFamily="18" charset="0"/>
              </a:rPr>
              <a:t>Architecture &amp;</a:t>
            </a:r>
            <a:endParaRPr lang="en-US" sz="4800" dirty="0">
              <a:latin typeface="Cooper Black" panose="0208090404030B020404" pitchFamily="18" charset="0"/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ooper Black" panose="0208090404030B020404" pitchFamily="18" charset="0"/>
              </a:rPr>
              <a:t>Démonstration</a:t>
            </a:r>
            <a:endParaRPr lang="en-US" sz="4800" dirty="0">
              <a:latin typeface="Cooper Black" panose="0208090404030B0204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E9FF"/>
                </a:solidFill>
              </a:rPr>
              <a:t>Matériels · Architecture · Comportement attendu · Démo en direct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341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1881554" y="54864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2.1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19775" y="36576"/>
            <a:ext cx="53386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oper Black" panose="0208090404030B020404" pitchFamily="18" charset="0"/>
              </a:rPr>
              <a:t>Matériels &amp; Stack technique</a:t>
            </a:r>
            <a:endParaRPr lang="en-US" sz="2000" dirty="0">
              <a:latin typeface="Cooper Black" panose="0208090404030B0204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69080" cy="3886200"/>
          </a:xfrm>
          <a:prstGeom prst="rect">
            <a:avLst/>
          </a:prstGeom>
          <a:solidFill>
            <a:srgbClr val="1B2B3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0690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Garamond" panose="02020404030301010803" pitchFamily="18" charset="0"/>
              </a:rPr>
              <a:t>⚙️  BACKEND — Python / FastAPI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10058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</a:rPr>
              <a:t>FastAPI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08760" y="1517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Framework API REST asynchrone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10058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</a:rPr>
              <a:t>InsightFace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4440" y="2184713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RetinaFace (détection) + ArcFace (recognition)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2852928"/>
            <a:ext cx="10058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</a:rPr>
              <a:t>MediaPipe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08760" y="2834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Face Mesh 468 landmarks temps réel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3511296"/>
            <a:ext cx="10058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411480" y="3511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Jose / Passlib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3493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JWT HS256 + bcrypt (2FA token flow)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4169664"/>
            <a:ext cx="10058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411480" y="41696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 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159465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Persistance légère users / embeddings / sessions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067034"/>
            <a:ext cx="4069080" cy="3886200"/>
          </a:xfrm>
          <a:prstGeom prst="rect">
            <a:avLst/>
          </a:prstGeom>
          <a:solidFill>
            <a:srgbClr val="1B2B3C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069080" cy="384048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4754880" y="1051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Garamond" panose="02020404030301010803" pitchFamily="18" charset="0"/>
              </a:rPr>
              <a:t>🖥️  FRONTEND — Next.js / React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46320" y="1536192"/>
            <a:ext cx="1005840" cy="292608"/>
          </a:xfrm>
          <a:prstGeom prst="rect">
            <a:avLst/>
          </a:prstGeom>
          <a:solidFill>
            <a:srgbClr val="00F5D4">
              <a:alpha val="70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4846320" y="15361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Garamond" panose="02020404030301010803" pitchFamily="18" charset="0"/>
              </a:rPr>
              <a:t>Next.js 14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52160" y="15361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Framework React SSR/CSR, routing pages/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46320" y="2194560"/>
            <a:ext cx="1005840" cy="292608"/>
          </a:xfrm>
          <a:prstGeom prst="rect">
            <a:avLst/>
          </a:prstGeom>
          <a:solidFill>
            <a:srgbClr val="00F5D4">
              <a:alpha val="70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4846320" y="2194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Garamond" panose="02020404030301010803" pitchFamily="18" charset="0"/>
              </a:rPr>
              <a:t>Axios</a:t>
            </a:r>
            <a:endParaRPr lang="en-US" sz="900" dirty="0">
              <a:latin typeface="Garamond" panose="020204040303010108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2176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Client HTTP avec intercepteurs JWT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846320" y="2852928"/>
            <a:ext cx="1005840" cy="292608"/>
          </a:xfrm>
          <a:prstGeom prst="rect">
            <a:avLst/>
          </a:prstGeom>
          <a:solidFill>
            <a:srgbClr val="00F5D4">
              <a:alpha val="70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4" name="Text 32"/>
          <p:cNvSpPr/>
          <p:nvPr/>
        </p:nvSpPr>
        <p:spPr>
          <a:xfrm>
            <a:off x="4846320" y="2852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Garamond" panose="02020404030301010803" pitchFamily="18" charset="0"/>
              </a:rPr>
              <a:t>react-webcam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43600" y="2834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Capture vidéo pour 2FA &amp; monitoring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46320" y="3511296"/>
            <a:ext cx="1005840" cy="292608"/>
          </a:xfrm>
          <a:prstGeom prst="rect">
            <a:avLst/>
          </a:prstGeom>
          <a:solidFill>
            <a:srgbClr val="00F5D4">
              <a:alpha val="70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Text 35"/>
          <p:cNvSpPr/>
          <p:nvPr/>
        </p:nvSpPr>
        <p:spPr>
          <a:xfrm>
            <a:off x="4846320" y="3511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Garamond" panose="02020404030301010803" pitchFamily="18" charset="0"/>
              </a:rPr>
              <a:t>Recharts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43600" y="3493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Graphiques évolution attention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46320" y="4169664"/>
            <a:ext cx="1005840" cy="292608"/>
          </a:xfrm>
          <a:prstGeom prst="rect">
            <a:avLst/>
          </a:prstGeom>
          <a:solidFill>
            <a:srgbClr val="00F5D4">
              <a:alpha val="70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0" name="Text 38"/>
          <p:cNvSpPr/>
          <p:nvPr/>
        </p:nvSpPr>
        <p:spPr>
          <a:xfrm>
            <a:off x="4846320" y="41696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Garamond" panose="02020404030301010803" pitchFamily="18" charset="0"/>
              </a:rPr>
              <a:t>Tailwind CSS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0" y="41513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Thème dark custom (dark-700/800/900)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3" name="Text 41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2766060" y="1828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oper Black" panose="0208090404030B020404" pitchFamily="18" charset="0"/>
              </a:rPr>
              <a:t>2.2</a:t>
            </a:r>
            <a:endParaRPr lang="en-US" sz="1100" dirty="0">
              <a:latin typeface="Cooper Black" panose="0208090404030B0204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oper Black" panose="0208090404030B020404" pitchFamily="18" charset="0"/>
              </a:rPr>
              <a:t>Architecture simplifiée</a:t>
            </a:r>
            <a:endParaRPr lang="en-US" sz="2000" dirty="0">
              <a:latin typeface="Cooper Black" panose="0208090404030B0204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1975104" cy="1554480"/>
          </a:xfrm>
          <a:prstGeom prst="rect">
            <a:avLst/>
          </a:prstGeom>
          <a:solidFill>
            <a:srgbClr val="243447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256032" y="123444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Next.js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" y="2148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Webcam · UI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75104" cy="1554480"/>
          </a:xfrm>
          <a:prstGeom prst="rect">
            <a:avLst/>
          </a:prstGeom>
          <a:solidFill>
            <a:srgbClr val="243447"/>
          </a:solidFill>
          <a:ln w="25400">
            <a:solidFill>
              <a:srgbClr val="00F5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2468880" y="123444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5D4"/>
                </a:solidFill>
              </a:rPr>
              <a:t>API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F5D4"/>
                </a:solidFill>
              </a:rPr>
              <a:t>FastAPI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Auth · Monitoring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81728" y="1143000"/>
            <a:ext cx="1975104" cy="1554480"/>
          </a:xfrm>
          <a:prstGeom prst="rect">
            <a:avLst/>
          </a:prstGeom>
          <a:solidFill>
            <a:srgbClr val="243447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4681728" y="123444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MODÈLES 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1728" y="2148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InsightFace · MediaPipe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94576" y="1143000"/>
            <a:ext cx="1975104" cy="1554480"/>
          </a:xfrm>
          <a:prstGeom prst="rect">
            <a:avLst/>
          </a:prstGeom>
          <a:solidFill>
            <a:srgbClr val="243447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6894576" y="123444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STOCKAGE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JSON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94576" y="2148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Users · Sessions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12848" y="1783080"/>
            <a:ext cx="20116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2350008" y="16916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25696" y="1783080"/>
            <a:ext cx="20116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4562856" y="16916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38544" y="1783080"/>
            <a:ext cx="20116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6775704" y="16916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8595360" cy="2057400"/>
          </a:xfrm>
          <a:prstGeom prst="rect">
            <a:avLst/>
          </a:prstGeom>
          <a:solidFill>
            <a:srgbClr val="1B2B3C"/>
          </a:solidFill>
          <a:ln w="1270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</a:rPr>
              <a:t>FLUX COMPLET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1012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/>
          <p:nvPr/>
        </p:nvSpPr>
        <p:spPr>
          <a:xfrm>
            <a:off x="36576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3291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60273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Matricule + MDP → Token temporaire 15min (JWT temp_2fa)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14600" y="331012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251460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3291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2FA Facial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0" y="360273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Photo webcam → ArcFace embedding → cosine similarity ≥ 0.6 → Token full_access 24h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31012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3"/>
          <p:cNvSpPr/>
          <p:nvPr/>
        </p:nvSpPr>
        <p:spPr>
          <a:xfrm>
            <a:off x="466344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3291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60273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Étudiant s'inscrit + photo → compte pending → admin valide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12280" y="331012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7"/>
          <p:cNvSpPr/>
          <p:nvPr/>
        </p:nvSpPr>
        <p:spPr>
          <a:xfrm>
            <a:off x="68122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3291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360273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Session démarrée → frames analysées /2s → EAR + head_pose + gaze → score d'attention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3" name="Text 41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8 / 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2606040" y="36576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2.3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oper Black" panose="0208090404030B020404" pitchFamily="18" charset="0"/>
              </a:rPr>
              <a:t>Comportement attendu</a:t>
            </a:r>
            <a:endParaRPr lang="en-US" sz="2000" dirty="0">
              <a:latin typeface="Cooper Black" panose="0208090404030B0204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87368" cy="1691640"/>
          </a:xfrm>
          <a:prstGeom prst="rect">
            <a:avLst/>
          </a:prstGeom>
          <a:solidFill>
            <a:srgbClr val="1B2B3C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48640" cy="1691640"/>
          </a:xfrm>
          <a:prstGeom prst="rect">
            <a:avLst/>
          </a:prstGeom>
          <a:solidFill>
            <a:srgbClr val="2EC4B6">
              <a:alpha val="8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Garamond" panose="02020404030301010803" pitchFamily="18" charset="0"/>
              </a:rPr>
              <a:t>FOCUSED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Yeux ouverts (EAR ≥ 0.25)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Tête droite (pitch &lt; 20° / yaw &lt; 25°)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Regard centré (&lt; 0.15)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36592" y="1051560"/>
            <a:ext cx="4087368" cy="1691640"/>
          </a:xfrm>
          <a:prstGeom prst="rect">
            <a:avLst/>
          </a:prstGeom>
          <a:solidFill>
            <a:srgbClr val="1B2B3C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4736592" y="1051560"/>
            <a:ext cx="548640" cy="169164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4736592" y="1600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30952" y="1234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Garamond" panose="02020404030301010803" pitchFamily="18" charset="0"/>
              </a:rPr>
              <a:t>DISTRACTED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30952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Tête trop inclinée / tournée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Regard trop dévié horizontalement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ou verticalement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087368" cy="1691640"/>
          </a:xfrm>
          <a:prstGeom prst="rect">
            <a:avLst/>
          </a:prstGeom>
          <a:solidFill>
            <a:srgbClr val="1B2B3C"/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548640" cy="1691640"/>
          </a:xfrm>
          <a:prstGeom prst="rect">
            <a:avLst/>
          </a:prstGeom>
          <a:solidFill>
            <a:srgbClr val="FFB347">
              <a:alpha val="80000"/>
            </a:srgbClr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32004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47"/>
                </a:solidFill>
                <a:latin typeface="Garamond" panose="02020404030301010803" pitchFamily="18" charset="0"/>
              </a:rPr>
              <a:t>DROWSY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Yeux mi-clos : EAR entre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0.21 et 0.25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Somnolence détectée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36592" y="2926080"/>
            <a:ext cx="4087368" cy="1691640"/>
          </a:xfrm>
          <a:prstGeom prst="rect">
            <a:avLst/>
          </a:prstGeom>
          <a:solidFill>
            <a:srgbClr val="1B2B3C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Shape 20"/>
          <p:cNvSpPr/>
          <p:nvPr/>
        </p:nvSpPr>
        <p:spPr>
          <a:xfrm>
            <a:off x="4736592" y="2926080"/>
            <a:ext cx="548640" cy="1691640"/>
          </a:xfrm>
          <a:prstGeom prst="rect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4736592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30952" y="3108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Garamond" panose="02020404030301010803" pitchFamily="18" charset="0"/>
              </a:rPr>
              <a:t>EYES CLOSED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30952" y="3474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EAR &lt; 0.21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Yeux complètement fermés</a:t>
            </a:r>
            <a:endParaRPr lang="en-US" sz="1200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Garamond" panose="02020404030301010803" pitchFamily="18" charset="0"/>
              </a:rPr>
              <a:t>Clignement long détecté</a:t>
            </a:r>
            <a:endParaRPr lang="en-US" sz="1200" b="1" dirty="0">
              <a:latin typeface="Garamond" panose="020204040303010108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9 / 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51" y="18288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1624818" y="73152"/>
            <a:ext cx="618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ooper Black" panose="0208090404030B020404" pitchFamily="18" charset="0"/>
              </a:rPr>
              <a:t>2.4</a:t>
            </a:r>
            <a:endParaRPr lang="en-US" sz="1100" dirty="0">
              <a:latin typeface="Cooper Black" panose="0208090404030B0204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94692" y="73152"/>
            <a:ext cx="49588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oper Black" panose="0208090404030B020404" pitchFamily="18" charset="0"/>
              </a:rPr>
              <a:t>Démonstration en direct</a:t>
            </a:r>
            <a:endParaRPr lang="en-US" sz="2000" dirty="0">
              <a:latin typeface="Cooper Black" panose="0208090404030B0204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572000" cy="3886200"/>
          </a:xfrm>
          <a:prstGeom prst="rect">
            <a:avLst/>
          </a:prstGeom>
          <a:solidFill>
            <a:srgbClr val="243447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57200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411480" y="1088136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Shape 7"/>
          <p:cNvSpPr/>
          <p:nvPr/>
        </p:nvSpPr>
        <p:spPr>
          <a:xfrm>
            <a:off x="612648" y="108813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813816" y="1088136"/>
            <a:ext cx="128016" cy="12801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1051560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localhost:3000 — Surveillance en Ligne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🎥  Démo live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1965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Garamond" panose="02020404030301010803" pitchFamily="18" charset="0"/>
              </a:rPr>
              <a:t>Application disponible sur</a:t>
            </a:r>
            <a:endParaRPr lang="en-US" sz="160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Garamond" panose="02020404030301010803" pitchFamily="18" charset="0"/>
              </a:rPr>
              <a:t>localhost:3000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920240" cy="1188720"/>
          </a:xfrm>
          <a:prstGeom prst="rect">
            <a:avLst/>
          </a:prstGeom>
          <a:solidFill>
            <a:srgbClr val="1B2B3C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Attention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Actuelle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5D4"/>
                </a:solidFill>
              </a:rPr>
              <a:t>78%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2606040" y="2697480"/>
            <a:ext cx="1920240" cy="1188720"/>
          </a:xfrm>
          <a:prstGeom prst="rect">
            <a:avLst/>
          </a:prstGeom>
          <a:solidFill>
            <a:srgbClr val="1B2B3C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260604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État actuel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5D4"/>
                </a:solidFill>
              </a:rPr>
              <a:t>FOCUSED 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Scénarios à présenter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276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507492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68112" y="157276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Inscription étudiant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68112" y="184708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Créer un compte via /register avec capture webcam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4920" y="23134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507492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68112" y="225856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 admin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68112" y="253288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Admin connecté → Validations → Approuver le compte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74920" y="29992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8"/>
          <p:cNvSpPr/>
          <p:nvPr/>
        </p:nvSpPr>
        <p:spPr>
          <a:xfrm>
            <a:off x="507492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68112" y="294436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Connexion 2FA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68112" y="321868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Login mot de passe → vérification faciale → accès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74920" y="36850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4" name="Text 32"/>
          <p:cNvSpPr/>
          <p:nvPr/>
        </p:nvSpPr>
        <p:spPr>
          <a:xfrm>
            <a:off x="5074920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68112" y="363016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 monitoring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68112" y="390448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Démarrer la session → simuler distraction → voir EAR baisser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74920" y="43708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8" name="Text 36"/>
          <p:cNvSpPr/>
          <p:nvPr/>
        </p:nvSpPr>
        <p:spPr>
          <a:xfrm>
            <a:off x="507492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68112" y="431596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résultats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68112" y="459028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Consulter le score final, graphique évolution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2" name="Text 40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94A3B8"/>
                </a:solidFill>
              </a:rPr>
              <a:t>SECTION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oper Black" panose="0208090404030B020404" pitchFamily="18" charset="0"/>
              </a:rPr>
              <a:t>Avantages, Inconvénients</a:t>
            </a:r>
            <a:endParaRPr lang="en-US" sz="3800" dirty="0">
              <a:latin typeface="Cooper Black" panose="0208090404030B020404" pitchFamily="18" charset="0"/>
            </a:endParaRPr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oper Black" panose="0208090404030B020404" pitchFamily="18" charset="0"/>
              </a:rPr>
              <a:t>et Conclusion</a:t>
            </a:r>
            <a:endParaRPr lang="en-US" sz="3800" dirty="0">
              <a:latin typeface="Cooper Black" panose="0208090404030B0204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E9FF"/>
                </a:solidFill>
              </a:rPr>
              <a:t>Bilan critique du système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9144000" cy="91440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2025748" y="274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3.1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65828" y="2743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oper Black" panose="0208090404030B020404" pitchFamily="18" charset="0"/>
              </a:rPr>
              <a:t>Avantages &amp; Inconvénients</a:t>
            </a:r>
            <a:endParaRPr lang="en-US" sz="2000" dirty="0">
              <a:latin typeface="Cooper Black" panose="0208090404030B0204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69080" cy="43891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✅  AVANTAGES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81912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347472" y="1581912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Sécurité renforcée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2FA : mot de passe + biométrie faciale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347472" y="2258568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295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 open-source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551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InsightFace &amp; MediaPipe, gratuits &amp; performants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347472" y="2935224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Temps réel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227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Analyse toutes les 2 secondes, feedback immédiat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347472" y="3611880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904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Les étudiants s'inscrivent eux-mêmes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88536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347472" y="4288536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4325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Multi-rôles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581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Workflow admin/étudiant clair &amp; séparé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051560"/>
            <a:ext cx="406908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Text 27"/>
          <p:cNvSpPr/>
          <p:nvPr/>
        </p:nvSpPr>
        <p:spPr>
          <a:xfrm>
            <a:off x="4754880" y="105156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⚠️  INCONVÉNIENTS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581912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4782312" y="1581912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48072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Éclairage requis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48072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MediaPipe peu performant en faible lumière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258568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3"/>
          <p:cNvSpPr/>
          <p:nvPr/>
        </p:nvSpPr>
        <p:spPr>
          <a:xfrm>
            <a:off x="4782312" y="2258568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48072" y="2295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Stockage JSON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48072" y="2551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Non scalable au-delà de quelques centaines d'users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935224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7"/>
          <p:cNvSpPr/>
          <p:nvPr/>
        </p:nvSpPr>
        <p:spPr>
          <a:xfrm>
            <a:off x="4782312" y="2935224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✗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48072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CPU intensif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48072" y="3227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InsightFace lourd sur machine sans GPU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611880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3" name="Text 41"/>
          <p:cNvSpPr/>
          <p:nvPr/>
        </p:nvSpPr>
        <p:spPr>
          <a:xfrm>
            <a:off x="4782312" y="3611880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✗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48072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Vie privée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48072" y="3904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Collecte de données biométriques (RGPD)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4288536"/>
            <a:ext cx="4069080" cy="603504"/>
          </a:xfrm>
          <a:prstGeom prst="rect">
            <a:avLst/>
          </a:prstGeom>
          <a:solidFill>
            <a:srgbClr val="1B2B3C"/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7" name="Text 45"/>
          <p:cNvSpPr/>
          <p:nvPr/>
        </p:nvSpPr>
        <p:spPr>
          <a:xfrm>
            <a:off x="4782312" y="4288536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✗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148072" y="4325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Faux positifs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48072" y="4581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Lunettes, maquillage peuvent perturber l'EAR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1" name="Text 49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12 / 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6" grpId="0" animBg="1"/>
      <p:bldP spid="20" grpId="0" animBg="1"/>
      <p:bldP spid="24" grpId="0" animBg="1"/>
      <p:bldP spid="28" grpId="0" animBg="1"/>
      <p:bldP spid="30" grpId="0" animBg="1"/>
      <p:bldP spid="34" grpId="0" animBg="1"/>
      <p:bldP spid="38" grpId="0" animBg="1"/>
      <p:bldP spid="42" grpId="0" animBg="1"/>
      <p:bldP spid="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8814816" y="0"/>
            <a:ext cx="16459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oper Black" panose="0208090404030B020404" pitchFamily="18" charset="0"/>
              </a:rPr>
              <a:t>Conclusion</a:t>
            </a:r>
            <a:endParaRPr lang="en-US" sz="3800" dirty="0">
              <a:latin typeface="Cooper Black" panose="0208090404030B0204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926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E9FF"/>
                </a:solidFill>
                <a:latin typeface="Garamond" panose="02020404030301010803" pitchFamily="18" charset="0"/>
              </a:rPr>
              <a:t>Ce projet démontre la faisabilité d'un système de surveillance en ligne complet, combinant authentification biométrique 2FA et suivi de l'attention par vision par ordinateur.</a:t>
            </a:r>
            <a:endParaRPr lang="en-US" sz="1600" i="1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713232"/>
          </a:xfrm>
          <a:prstGeom prst="rect">
            <a:avLst/>
          </a:prstGeom>
          <a:solidFill>
            <a:srgbClr val="1B2B3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203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Sécurité atteinte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2743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Flux 2FA complet avec tokens temporaires et complets, validation admin des comptes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218688"/>
            <a:ext cx="8229600" cy="713232"/>
          </a:xfrm>
          <a:prstGeom prst="rect">
            <a:avLst/>
          </a:prstGeom>
          <a:solidFill>
            <a:srgbClr val="1B2B3C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D4"/>
                </a:solidFill>
              </a:rPr>
              <a:t>Monitoring fonctionnel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51560" y="35844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4 niveaux d'attention détectés en temps réel grâce à EAR, head pose et gaze direction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4059936"/>
            <a:ext cx="8229600" cy="713232"/>
          </a:xfrm>
          <a:prstGeom prst="rect">
            <a:avLst/>
          </a:prstGeom>
          <a:solidFill>
            <a:srgbClr val="1B2B3C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245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Perspectives d'amélioration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51560" y="44256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Migration vers base de données, GPU pour les inférences, chiffrement des embeddings (RGPD)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B4D8"/>
                </a:solidFill>
              </a:rPr>
              <a:t>Merci de votre attention — Questions ?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solidFill>
            <a:srgbClr val="243447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17"/>
          <p:cNvSpPr/>
          <p:nvPr/>
        </p:nvSpPr>
        <p:spPr>
          <a:xfrm>
            <a:off x="8458200" y="4864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13 / 13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863</Words>
  <Application>Microsoft Office PowerPoint</Application>
  <PresentationFormat>Affichage à l'écran (16:9)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Amasis MT Pro Black</vt:lpstr>
      <vt:lpstr>Amasis MT Pro Light</vt:lpstr>
      <vt:lpstr>AngsanaUPC</vt:lpstr>
      <vt:lpstr>Arial</vt:lpstr>
      <vt:lpstr>Cooper Black</vt:lpstr>
      <vt:lpstr>Garamond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Surveillance en Ligne</dc:title>
  <dc:subject>PptxGenJS Presentation</dc:subject>
  <dc:creator>PptxGenJS</dc:creator>
  <cp:lastModifiedBy>Robert DAKOUO</cp:lastModifiedBy>
  <cp:revision>5</cp:revision>
  <dcterms:created xsi:type="dcterms:W3CDTF">2026-02-25T19:21:19Z</dcterms:created>
  <dcterms:modified xsi:type="dcterms:W3CDTF">2026-02-25T21:59:25Z</dcterms:modified>
</cp:coreProperties>
</file>